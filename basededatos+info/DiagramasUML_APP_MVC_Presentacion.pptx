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5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6671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320040" y="274320"/>
            <a:ext cx="3200400" cy="411480"/>
          </a:xfrm>
          <a:prstGeom prst="roundRect">
            <a:avLst>
              <a:gd name="adj" fmla="val 26667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320040" y="274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ARQUITECTURA Y DISEÑO DE SOFTWARE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67060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DiagramasUML</a:t>
            </a: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APP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320040" y="18288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MVC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" y="242316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E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 y Gestión de Diagramas UML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0" y="274320"/>
            <a:ext cx="2377440" cy="2377440"/>
          </a:xfrm>
          <a:prstGeom prst="ellipse">
            <a:avLst/>
          </a:prstGeom>
          <a:solidFill>
            <a:srgbClr val="1B3A5C"/>
          </a:solidFill>
          <a:ln w="381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6583680" y="82296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</a:t>
            </a:r>
            <a:endParaRPr lang="en-US" sz="4200" dirty="0"/>
          </a:p>
        </p:txBody>
      </p:sp>
      <p:sp>
        <p:nvSpPr>
          <p:cNvPr id="10" name="Shape 8"/>
          <p:cNvSpPr/>
          <p:nvPr/>
        </p:nvSpPr>
        <p:spPr>
          <a:xfrm>
            <a:off x="7772400" y="2834640"/>
            <a:ext cx="1280160" cy="128016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7772400" y="306324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PHP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274320" y="4480560"/>
            <a:ext cx="8595360" cy="66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0F4FF"/>
                </a:solidFill>
              </a:rPr>
              <a:t>Tecnologías:  PHP  |  MySQL  |  JavaScript  |  JSON  |  SVG      |      Abril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-1" y="0"/>
            <a:ext cx="924428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FFFFFF"/>
                </a:solidFill>
              </a:rPr>
              <a:t>¿QUÉ ES </a:t>
            </a:r>
            <a:r>
              <a:rPr lang="en-US" sz="2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DiagramasUML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APP?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para crear, editar y almacenar diagramas UML con arquitectura MVC en PHP.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74320" y="2011680"/>
            <a:ext cx="2743200" cy="18288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77B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274320" y="2011680"/>
            <a:ext cx="2743200" cy="3200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274320" y="2011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👤 Administrador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42316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0D1B2A"/>
                </a:solidFill>
              </a:rPr>
              <a:t>Gestión de usuarios, grupos y base de datos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18688" y="2011680"/>
            <a:ext cx="2743200" cy="1828800"/>
          </a:xfrm>
          <a:prstGeom prst="rect">
            <a:avLst/>
          </a:prstGeom>
          <a:solidFill>
            <a:srgbClr val="FFFFFF"/>
          </a:solidFill>
          <a:ln w="38100">
            <a:solidFill>
              <a:srgbClr val="06D6A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3218688" y="2011680"/>
            <a:ext cx="2743200" cy="3200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3218688" y="2011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🎓 Docente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10128" y="242316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0D1B2A"/>
                </a:solidFill>
              </a:rPr>
              <a:t>Grupos, tareas y supervisión de alumnos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63056" y="2011680"/>
            <a:ext cx="2743200" cy="18288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B703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6163056" y="2011680"/>
            <a:ext cx="2743200" cy="3200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6163056" y="2011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📚 Alumno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54496" y="242316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0D1B2A"/>
                </a:solidFill>
              </a:rPr>
              <a:t>Crear diagramas UML y entregar tareas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577840" y="749808"/>
            <a:ext cx="960120" cy="96012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5577840" y="749808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10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532120" y="173736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Tipos UML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766560" y="749808"/>
            <a:ext cx="960120" cy="96012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6766560" y="749808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720840" y="173736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Roles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955280" y="749808"/>
            <a:ext cx="960120" cy="96012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7955280" y="749808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MVC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909560" y="173736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Arquitectura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MVC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EAEC7"/>
                </a:solidFill>
              </a:rPr>
              <a:t>Separación clara de responsabilidades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743200" cy="3474720"/>
          </a:xfrm>
          <a:prstGeom prst="rect">
            <a:avLst/>
          </a:prstGeom>
          <a:solidFill>
            <a:srgbClr val="1B3A5C"/>
          </a:solidFill>
          <a:ln w="254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743200" cy="5029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🗄️  MODELO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8745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4FF"/>
                </a:solidFill>
              </a:rPr>
              <a:t>• UserModel.php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53288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4FF"/>
                </a:solidFill>
              </a:rPr>
              <a:t>• DiagramModel.php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3191256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4FF"/>
                </a:solidFill>
              </a:rPr>
              <a:t>• Conexión PDO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849624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4FF"/>
                </a:solidFill>
              </a:rPr>
              <a:t>• Hash de contraseñas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1234440"/>
            <a:ext cx="2743200" cy="3474720"/>
          </a:xfrm>
          <a:prstGeom prst="rect">
            <a:avLst/>
          </a:prstGeom>
          <a:solidFill>
            <a:srgbClr val="1B3A5C"/>
          </a:solidFill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3246120" y="1234440"/>
            <a:ext cx="274320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3246120" y="1234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⚙️  CONTROLADOR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18745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4FF"/>
                </a:solidFill>
              </a:rPr>
              <a:t>• Valida entradas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253288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4FF"/>
                </a:solidFill>
              </a:rPr>
              <a:t>• Verifica sesión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3191256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4FF"/>
                </a:solidFill>
              </a:rPr>
              <a:t>• Coordina capas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0" y="3849624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4FF"/>
                </a:solidFill>
              </a:rPr>
              <a:t>• Enruta peticiones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1234440"/>
            <a:ext cx="2743200" cy="3474720"/>
          </a:xfrm>
          <a:prstGeom prst="rect">
            <a:avLst/>
          </a:prstGeom>
          <a:solidFill>
            <a:srgbClr val="1B3A5C"/>
          </a:solidFill>
          <a:ln w="254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Shape 17"/>
          <p:cNvSpPr/>
          <p:nvPr/>
        </p:nvSpPr>
        <p:spPr>
          <a:xfrm>
            <a:off x="6126480" y="1234440"/>
            <a:ext cx="2743200" cy="5029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6126480" y="1234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🖥️  VISTA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63640" y="18745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4FF"/>
                </a:solidFill>
              </a:rPr>
              <a:t>• HTML / CSS / JS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63640" y="253288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4FF"/>
                </a:solidFill>
              </a:rPr>
              <a:t>• Sin lógica de negocio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63640" y="3191256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4FF"/>
                </a:solidFill>
              </a:rPr>
              <a:t>• Formularios y paneles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63640" y="3849624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4FF"/>
                </a:solidFill>
              </a:rPr>
              <a:t>• Editor SVG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127248" y="2971800"/>
            <a:ext cx="13716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Shape 24"/>
          <p:cNvSpPr/>
          <p:nvPr/>
        </p:nvSpPr>
        <p:spPr>
          <a:xfrm>
            <a:off x="3236976" y="2907792"/>
            <a:ext cx="54864" cy="1280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Shape 25"/>
          <p:cNvSpPr/>
          <p:nvPr/>
        </p:nvSpPr>
        <p:spPr>
          <a:xfrm>
            <a:off x="6007608" y="2971800"/>
            <a:ext cx="13716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Shape 26"/>
          <p:cNvSpPr/>
          <p:nvPr/>
        </p:nvSpPr>
        <p:spPr>
          <a:xfrm>
            <a:off x="6117336" y="2907792"/>
            <a:ext cx="54864" cy="1280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FLUJO OPERATIVO DEL SISTEMA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1417320" cy="141732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20040" y="237744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Usuario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accede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792224" y="1572768"/>
            <a:ext cx="713232" cy="0"/>
          </a:xfrm>
          <a:prstGeom prst="line">
            <a:avLst/>
          </a:prstGeom>
          <a:noFill/>
          <a:ln w="254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2148840" y="868680"/>
            <a:ext cx="1417320" cy="1417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2148840" y="86868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103120" y="237744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Router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enruta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75304" y="1572768"/>
            <a:ext cx="713232" cy="0"/>
          </a:xfrm>
          <a:prstGeom prst="line">
            <a:avLst/>
          </a:prstGeom>
          <a:noFill/>
          <a:ln w="254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3931920" y="868680"/>
            <a:ext cx="1417320" cy="141732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3931920" y="86868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886200" y="237744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Controlador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valida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58384" y="1572768"/>
            <a:ext cx="713232" cy="0"/>
          </a:xfrm>
          <a:prstGeom prst="line">
            <a:avLst/>
          </a:prstGeom>
          <a:noFill/>
          <a:ln w="254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5715000" y="868680"/>
            <a:ext cx="1417320" cy="141732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5715000" y="86868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4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5669280" y="237744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Modelo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consulta BD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141464" y="1572768"/>
            <a:ext cx="713232" cy="0"/>
          </a:xfrm>
          <a:prstGeom prst="line">
            <a:avLst/>
          </a:prstGeom>
          <a:noFill/>
          <a:ln w="254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7498080" y="868680"/>
            <a:ext cx="1417320" cy="1417320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7498080" y="86868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5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7452360" y="237744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Vista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renderiza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27432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365760" y="32918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77B6"/>
                </a:solidFill>
              </a:rPr>
              <a:t>📥 Entrada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37033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0D1B2A"/>
                </a:solidFill>
              </a:rPr>
              <a:t>El usuario envía una solicitud HTTP al sistema.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337560" y="3291840"/>
            <a:ext cx="27432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3337560" y="32918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B703"/>
                </a:solidFill>
              </a:rPr>
              <a:t>🛡️ Seguridad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29000" y="37033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0D1B2A"/>
                </a:solidFill>
              </a:rPr>
              <a:t>Se verifica sesión activa y permisos de rol antes de procesar.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09360" y="3291840"/>
            <a:ext cx="27432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6309360" y="32918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D6A0"/>
                </a:solidFill>
              </a:rPr>
              <a:t>📤 Salida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0" y="37033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0D1B2A"/>
                </a:solidFill>
              </a:rPr>
              <a:t>La vista renderiza el HTML con los datos del modelo.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</a:rPr>
              <a:t>🔐 SEGURIDAD IMPLEMENTADA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2788920" cy="1508760"/>
          </a:xfrm>
          <a:prstGeom prst="rect">
            <a:avLst/>
          </a:prstGeom>
          <a:solidFill>
            <a:srgbClr val="1B3A5C"/>
          </a:solidFill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429768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</a:rPr>
              <a:t>🔑  Autenticación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29768" y="15544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0F4FF"/>
                </a:solidFill>
              </a:rPr>
              <a:t>Sesiones PHP activas. Acceso solo con credenciales válidas.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91840" y="1005840"/>
            <a:ext cx="2788920" cy="1508760"/>
          </a:xfrm>
          <a:prstGeom prst="rect">
            <a:avLst/>
          </a:prstGeom>
          <a:solidFill>
            <a:srgbClr val="1B3A5C"/>
          </a:solidFill>
          <a:ln w="254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3401568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D6A0"/>
                </a:solidFill>
              </a:rPr>
              <a:t>👥  Control de Roles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01568" y="15544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0F4FF"/>
                </a:solidFill>
              </a:rPr>
              <a:t>Admin, Docente y Alumno con acceso diferenciado por módulo.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005840"/>
            <a:ext cx="2788920" cy="1508760"/>
          </a:xfrm>
          <a:prstGeom prst="rect">
            <a:avLst/>
          </a:prstGeom>
          <a:solidFill>
            <a:srgbClr val="1B3A5C"/>
          </a:solidFill>
          <a:ln w="254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6373368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703"/>
                </a:solidFill>
              </a:rPr>
              <a:t>🛡️  Validación de Datos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73368" y="15544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0F4FF"/>
                </a:solidFill>
              </a:rPr>
              <a:t>Formularios con controles de entrada. Consultas PDO preparadas.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2743200"/>
            <a:ext cx="2788920" cy="1508760"/>
          </a:xfrm>
          <a:prstGeom prst="rect">
            <a:avLst/>
          </a:prstGeom>
          <a:solidFill>
            <a:srgbClr val="1B3A5C"/>
          </a:solidFill>
          <a:ln w="254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429768" y="28346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7B6"/>
                </a:solidFill>
              </a:rPr>
              <a:t>📁  Organización de Archivos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9768" y="32918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0F4FF"/>
                </a:solidFill>
              </a:rPr>
              <a:t>Recursos públicos separados de privados. JSONs aislados por usuario.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91840" y="2743200"/>
            <a:ext cx="2788920" cy="1508760"/>
          </a:xfrm>
          <a:prstGeom prst="rect">
            <a:avLst/>
          </a:prstGeom>
          <a:solidFill>
            <a:srgbClr val="1B3A5C"/>
          </a:solidFill>
          <a:ln w="254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3401568" y="28346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76F"/>
                </a:solidFill>
              </a:rPr>
              <a:t>🔒  Hash de Contraseñas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01568" y="32918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0F4FF"/>
                </a:solidFill>
              </a:rPr>
              <a:t>password_hash() / password_verify() en UserModel.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63640" y="2743200"/>
            <a:ext cx="2788920" cy="1508760"/>
          </a:xfrm>
          <a:prstGeom prst="rect">
            <a:avLst/>
          </a:prstGeom>
          <a:solidFill>
            <a:srgbClr val="1B3A5C"/>
          </a:solidFill>
          <a:ln w="25400">
            <a:solidFill>
              <a:srgbClr val="8EAEC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6373368" y="28346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EAEC7"/>
                </a:solidFill>
              </a:rPr>
              <a:t>🚫  Riesgos Mitigados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73368" y="32918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0F4FF"/>
                </a:solidFill>
              </a:rPr>
              <a:t>Accesos no autorizados, inyecciones y exposición de datos.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10 TIPOS DE DIAGRAMAS UML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023360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4023360" cy="4572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Estructurales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</a:rPr>
              <a:t>📐 Clases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1B2A"/>
                </a:solidFill>
              </a:rPr>
              <a:t>📦 Objetos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8346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1B2A"/>
                </a:solidFill>
              </a:rPr>
              <a:t>⚙️ Componentes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5661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1B2A"/>
                </a:solidFill>
              </a:rPr>
              <a:t>🖥️ Despliegue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754880" y="777240"/>
            <a:ext cx="4023360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4754880" y="777240"/>
            <a:ext cx="4023360" cy="45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4754880" y="777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Comportamiento / Interacción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137160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</a:rPr>
              <a:t>👤 Casos de Uso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185623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</a:rPr>
              <a:t>🔄 Actividades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2340864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</a:rPr>
              <a:t>🔀 Estados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282549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</a:rPr>
              <a:t>📩 Secuencia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331012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</a:rPr>
              <a:t>📡 Comunicación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379476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</a:rPr>
              <a:t>⏱️ Tiempo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</a:rPr>
              <a:t>🛠️ STACK TECNOLÓGICO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1463040" cy="502920"/>
          </a:xfrm>
          <a:prstGeom prst="roundRect">
            <a:avLst>
              <a:gd name="adj" fmla="val 21818"/>
            </a:avLst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320040" y="10058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🐘 Backend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920240" y="960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PHP (sin framework)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920240" y="13258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EC7"/>
                </a:solidFill>
              </a:rPr>
              <a:t>Lógica de negocio y controladores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394960" y="1115568"/>
            <a:ext cx="3429000" cy="2011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5394960" y="1115568"/>
            <a:ext cx="3086100" cy="20116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320040" y="1847088"/>
            <a:ext cx="1463040" cy="502920"/>
          </a:xfrm>
          <a:prstGeom prst="roundRect">
            <a:avLst>
              <a:gd name="adj" fmla="val 21818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320040" y="184708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🗃️ Base de Datos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920240" y="180136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MySQL / PDO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920240" y="216712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EC7"/>
                </a:solidFill>
              </a:rPr>
              <a:t>Persistencia con consultas preparadas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94960" y="1956816"/>
            <a:ext cx="3429000" cy="2011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5394960" y="1956816"/>
            <a:ext cx="2914650" cy="20116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320040" y="2688336"/>
            <a:ext cx="1463040" cy="502920"/>
          </a:xfrm>
          <a:prstGeom prst="roundRect">
            <a:avLst>
              <a:gd name="adj" fmla="val 21818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320040" y="268833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🌐 Frontend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920240" y="2642616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HTML5 · CSS3 · JavaScript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920240" y="300837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EC7"/>
                </a:solidFill>
              </a:rPr>
              <a:t>Vistas, interacción y editor SVG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94960" y="2798064"/>
            <a:ext cx="3429000" cy="2011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5394960" y="2798064"/>
            <a:ext cx="2743200" cy="20116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320040" y="3529584"/>
            <a:ext cx="1463040" cy="502920"/>
          </a:xfrm>
          <a:prstGeom prst="roundRect">
            <a:avLst>
              <a:gd name="adj" fmla="val 21818"/>
            </a:avLst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320040" y="3529584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📄 Archivos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920240" y="348386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JSON en disco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920240" y="384962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EC7"/>
                </a:solidFill>
              </a:rPr>
              <a:t>Diagramas almacenados por usuario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394960" y="3639312"/>
            <a:ext cx="3429000" cy="2011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Shape 24"/>
          <p:cNvSpPr/>
          <p:nvPr/>
        </p:nvSpPr>
        <p:spPr>
          <a:xfrm>
            <a:off x="5394960" y="3639312"/>
            <a:ext cx="2400300" cy="20116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Shape 25"/>
          <p:cNvSpPr/>
          <p:nvPr/>
        </p:nvSpPr>
        <p:spPr>
          <a:xfrm>
            <a:off x="320040" y="4370832"/>
            <a:ext cx="1463040" cy="502920"/>
          </a:xfrm>
          <a:prstGeom prst="roundRect">
            <a:avLst>
              <a:gd name="adj" fmla="val 21818"/>
            </a:avLst>
          </a:prstGeom>
          <a:solidFill>
            <a:srgbClr val="8EAEC7"/>
          </a:solidFill>
          <a:ln w="12700">
            <a:solidFill>
              <a:srgbClr val="8EAEC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320040" y="437083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🖥️ Servidor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920240" y="432511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XAMPP (Apache + MySQL)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920240" y="469087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EC7"/>
                </a:solidFill>
              </a:rPr>
              <a:t>Entorno de desarrollo y pruebas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394960" y="4480560"/>
            <a:ext cx="3429000" cy="2011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Shape 30"/>
          <p:cNvSpPr/>
          <p:nvPr/>
        </p:nvSpPr>
        <p:spPr>
          <a:xfrm>
            <a:off x="5394960" y="4480560"/>
            <a:ext cx="2571750" cy="201168"/>
          </a:xfrm>
          <a:prstGeom prst="rect">
            <a:avLst/>
          </a:prstGeom>
          <a:solidFill>
            <a:srgbClr val="8EAEC7"/>
          </a:solidFill>
          <a:ln w="12700">
            <a:solidFill>
              <a:srgbClr val="8EAEC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457200"/>
            <a:ext cx="5029200" cy="502920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</a:rPr>
              <a:t>✅ CONCLUSIONES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365760" cy="36576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320040" y="10241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+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04672" y="10058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0F4FF"/>
                </a:solidFill>
              </a:rPr>
              <a:t>Arquitectura MVC bien implementada con separación real de capas.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773936"/>
            <a:ext cx="365760" cy="36576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320040" y="17739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+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1755648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0F4FF"/>
                </a:solidFill>
              </a:rPr>
              <a:t>Seguridad básica efectiva: sesiones, roles y PDO preparado.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2523744"/>
            <a:ext cx="365760" cy="3657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320040" y="25237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+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4672" y="2505456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0F4FF"/>
                </a:solidFill>
              </a:rPr>
              <a:t>Soporte completo de 10 tipos de diagramas UML estándar.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3273552"/>
            <a:ext cx="365760" cy="3657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320040" y="32735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+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4672" y="3255264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0F4FF"/>
                </a:solidFill>
              </a:rPr>
              <a:t>Escalable: nuevos módulos sin modificar el núcleo del sistema.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4023360"/>
            <a:ext cx="365760" cy="36576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320040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!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" y="4005072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0F4FF"/>
                </a:solidFill>
              </a:rPr>
              <a:t>Área de mejora: cifrado más robusto y protección CSRF en producción.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68696" y="173736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 err="1">
                <a:solidFill>
                  <a:srgbClr val="00B4D8"/>
                </a:solidFill>
              </a:rPr>
              <a:t>DiagramasUML</a:t>
            </a:r>
            <a:r>
              <a:rPr lang="en-US" sz="3800" b="1" dirty="0">
                <a:solidFill>
                  <a:srgbClr val="00B4D8"/>
                </a:solidFill>
              </a:rPr>
              <a:t> APP</a:t>
            </a:r>
          </a:p>
          <a:p>
            <a:pPr marL="0" indent="0" algn="ctr">
              <a:buNone/>
            </a:pP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5486400" y="219456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400" dirty="0">
                <a:solidFill>
                  <a:srgbClr val="E0F4FF"/>
                </a:solidFill>
              </a:rPr>
              <a:t>Un sistema académico</a:t>
            </a:r>
            <a:endParaRPr lang="en-US" sz="14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400" dirty="0">
                <a:solidFill>
                  <a:srgbClr val="E0F4FF"/>
                </a:solidFill>
              </a:rPr>
              <a:t>completo, seguro y escalable.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 dirty="0"/>
          </a:p>
        </p:txBody>
      </p:sp>
      <p:sp>
        <p:nvSpPr>
          <p:cNvPr id="22" name="Text 20"/>
          <p:cNvSpPr/>
          <p:nvPr/>
        </p:nvSpPr>
        <p:spPr>
          <a:xfrm>
            <a:off x="0" y="4663440"/>
            <a:ext cx="877824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0D1B2A"/>
                </a:solidFill>
              </a:rPr>
              <a:t>Arquitectura</a:t>
            </a:r>
            <a:r>
              <a:rPr lang="en-US" sz="1100" b="1" dirty="0">
                <a:solidFill>
                  <a:srgbClr val="0D1B2A"/>
                </a:solidFill>
              </a:rPr>
              <a:t> y </a:t>
            </a:r>
            <a:r>
              <a:rPr lang="en-US" sz="1100" b="1" dirty="0" err="1">
                <a:solidFill>
                  <a:srgbClr val="0D1B2A"/>
                </a:solidFill>
              </a:rPr>
              <a:t>Diseño</a:t>
            </a:r>
            <a:r>
              <a:rPr lang="en-US" sz="1100" b="1" dirty="0">
                <a:solidFill>
                  <a:srgbClr val="0D1B2A"/>
                </a:solidFill>
              </a:rPr>
              <a:t> de Software | </a:t>
            </a:r>
            <a:r>
              <a:rPr lang="en-US" sz="1100" b="1" dirty="0" err="1">
                <a:solidFill>
                  <a:srgbClr val="0D1B2A"/>
                </a:solidFill>
              </a:rPr>
              <a:t>DiagramasUML</a:t>
            </a:r>
            <a:r>
              <a:rPr lang="en-US" sz="1100" b="1" dirty="0">
                <a:solidFill>
                  <a:srgbClr val="0D1B2A"/>
                </a:solidFill>
              </a:rPr>
              <a:t> APP  |  Abril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476</Words>
  <Application>Microsoft Office PowerPoint</Application>
  <PresentationFormat>Presentación en pantalla (16:9)</PresentationFormat>
  <Paragraphs>125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Apex Code MVC - Reporte Técnico</dc:title>
  <dc:subject>PptxGenJS Presentation</dc:subject>
  <dc:creator>PptxGenJS</dc:creator>
  <cp:lastModifiedBy>ABRAHAM NAVARRO RODRIGUEZ</cp:lastModifiedBy>
  <cp:revision>2</cp:revision>
  <dcterms:created xsi:type="dcterms:W3CDTF">2026-04-16T02:34:15Z</dcterms:created>
  <dcterms:modified xsi:type="dcterms:W3CDTF">2026-04-16T04:05:40Z</dcterms:modified>
</cp:coreProperties>
</file>